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sldIdLst>
    <p:sldId id="256" r:id="rId2"/>
    <p:sldId id="257" r:id="rId3"/>
    <p:sldId id="258" r:id="rId4"/>
    <p:sldId id="263" r:id="rId5"/>
    <p:sldId id="264" r:id="rId6"/>
    <p:sldId id="268" r:id="rId7"/>
    <p:sldId id="259" r:id="rId8"/>
    <p:sldId id="260" r:id="rId9"/>
    <p:sldId id="261" r:id="rId10"/>
    <p:sldId id="266" r:id="rId11"/>
    <p:sldId id="265" r:id="rId12"/>
    <p:sldId id="267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83053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499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944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64358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052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07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939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3256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198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9724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60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D4B0C47-39D5-445E-86BB-7EC6043FD341}" type="datetimeFigureOut">
              <a:rPr lang="en-ID" smtClean="0"/>
              <a:t>18/07/2026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4E1DD3F-4B79-4D3E-A74B-3895B4E67B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029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7DE0-77F6-8AD8-3367-5983DBC37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94271"/>
            <a:ext cx="9144000" cy="2074606"/>
          </a:xfrm>
        </p:spPr>
        <p:txBody>
          <a:bodyPr>
            <a:noAutofit/>
          </a:bodyPr>
          <a:lstStyle/>
          <a:p>
            <a:r>
              <a:rPr lang="sv-SE" sz="4500" dirty="0"/>
              <a:t>Komparasi Transferabilitas Sentimen Lintas Kluster Wisata Yogyakarta Menggunakan Parameter-Efficient Fine-Tuning (LoRA)</a:t>
            </a:r>
            <a:endParaRPr lang="en-ID" sz="4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A43CCB-63A8-8648-BB70-58BD20154E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Tugas</a:t>
            </a:r>
            <a:r>
              <a:rPr lang="en-ID" dirty="0"/>
              <a:t> Akhir Mata Kuliah Text Analytics </a:t>
            </a:r>
          </a:p>
          <a:p>
            <a:r>
              <a:rPr lang="en-ID" dirty="0"/>
              <a:t>Zulza Laddera Aripin</a:t>
            </a:r>
          </a:p>
          <a:p>
            <a:r>
              <a:rPr lang="en-ID" dirty="0"/>
              <a:t>25917002</a:t>
            </a:r>
          </a:p>
        </p:txBody>
      </p:sp>
    </p:spTree>
    <p:extLst>
      <p:ext uri="{BB962C8B-B14F-4D97-AF65-F5344CB8AC3E}">
        <p14:creationId xmlns:p14="http://schemas.microsoft.com/office/powerpoint/2010/main" val="334987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0D16-8A5C-0155-0CAE-65FD9361A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Latar </a:t>
            </a:r>
            <a:r>
              <a:rPr lang="en-ID" dirty="0" err="1"/>
              <a:t>Belakang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C08C4-665B-D21E-BD70-82070C1A6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6956"/>
            <a:ext cx="10515600" cy="3382296"/>
          </a:xfrm>
        </p:spPr>
        <p:txBody>
          <a:bodyPr>
            <a:normAutofit/>
          </a:bodyPr>
          <a:lstStyle/>
          <a:p>
            <a:r>
              <a:rPr lang="en-ID" dirty="0" err="1"/>
              <a:t>Fenomena</a:t>
            </a:r>
            <a:r>
              <a:rPr lang="en-ID" dirty="0"/>
              <a:t> Bias Rating: Banyak </a:t>
            </a:r>
            <a:r>
              <a:rPr lang="en-ID" dirty="0" err="1"/>
              <a:t>ulasan</a:t>
            </a:r>
            <a:r>
              <a:rPr lang="en-ID" dirty="0"/>
              <a:t> Google Maps </a:t>
            </a:r>
            <a:r>
              <a:rPr lang="en-ID" dirty="0" err="1"/>
              <a:t>pariwisata</a:t>
            </a:r>
            <a:r>
              <a:rPr lang="en-ID" dirty="0"/>
              <a:t> Yogyakarta yang </a:t>
            </a:r>
            <a:r>
              <a:rPr lang="en-ID" dirty="0" err="1"/>
              <a:t>menipu</a:t>
            </a:r>
            <a:r>
              <a:rPr lang="en-ID" dirty="0"/>
              <a:t>; </a:t>
            </a:r>
            <a:r>
              <a:rPr lang="en-ID" dirty="0" err="1"/>
              <a:t>wisatawan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Bintang 5 </a:t>
            </a:r>
            <a:r>
              <a:rPr lang="en-ID" dirty="0" err="1"/>
              <a:t>secara</a:t>
            </a:r>
            <a:r>
              <a:rPr lang="en-ID" dirty="0"/>
              <a:t> formal,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ulasan</a:t>
            </a:r>
            <a:r>
              <a:rPr lang="en-ID" dirty="0"/>
              <a:t> </a:t>
            </a:r>
            <a:r>
              <a:rPr lang="en-ID" dirty="0" err="1"/>
              <a:t>naratifnya</a:t>
            </a:r>
            <a:r>
              <a:rPr lang="en-ID" dirty="0"/>
              <a:t> </a:t>
            </a:r>
            <a:r>
              <a:rPr lang="en-ID" dirty="0" err="1"/>
              <a:t>memuat</a:t>
            </a:r>
            <a:r>
              <a:rPr lang="en-ID" dirty="0"/>
              <a:t> </a:t>
            </a:r>
            <a:r>
              <a:rPr lang="en-ID" dirty="0" err="1"/>
              <a:t>kritik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komplain</a:t>
            </a:r>
            <a:r>
              <a:rPr lang="en-ID" dirty="0"/>
              <a:t> </a:t>
            </a:r>
            <a:r>
              <a:rPr lang="en-ID" dirty="0" err="1"/>
              <a:t>kritis</a:t>
            </a:r>
            <a:r>
              <a:rPr lang="en-ID" dirty="0"/>
              <a:t> yang </a:t>
            </a:r>
            <a:r>
              <a:rPr lang="en-ID" dirty="0" err="1"/>
              <a:t>panjang</a:t>
            </a:r>
            <a:r>
              <a:rPr lang="en-ID" dirty="0"/>
              <a:t>.</a:t>
            </a:r>
          </a:p>
          <a:p>
            <a:r>
              <a:rPr lang="en-ID" dirty="0" err="1"/>
              <a:t>Pertanyaan</a:t>
            </a:r>
            <a:r>
              <a:rPr lang="en-ID" dirty="0"/>
              <a:t> Riset: </a:t>
            </a:r>
            <a:r>
              <a:rPr lang="en-ID" dirty="0" err="1"/>
              <a:t>Apakah</a:t>
            </a:r>
            <a:r>
              <a:rPr lang="en-ID" dirty="0"/>
              <a:t> model NLP yang </a:t>
            </a:r>
            <a:r>
              <a:rPr lang="en-ID" dirty="0" err="1"/>
              <a:t>dilatih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data </a:t>
            </a:r>
            <a:r>
              <a:rPr lang="en-ID" dirty="0" err="1"/>
              <a:t>Wisata</a:t>
            </a:r>
            <a:r>
              <a:rPr lang="en-ID" dirty="0"/>
              <a:t> Alam </a:t>
            </a:r>
            <a:r>
              <a:rPr lang="en-ID" dirty="0" err="1"/>
              <a:t>tetap</a:t>
            </a:r>
            <a:r>
              <a:rPr lang="en-ID" dirty="0"/>
              <a:t> Tangguh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ditransfer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memprediksi</a:t>
            </a:r>
            <a:r>
              <a:rPr lang="en-ID" dirty="0"/>
              <a:t> </a:t>
            </a:r>
            <a:r>
              <a:rPr lang="en-ID" dirty="0" err="1"/>
              <a:t>Wisata</a:t>
            </a:r>
            <a:r>
              <a:rPr lang="en-ID" dirty="0"/>
              <a:t> </a:t>
            </a:r>
            <a:r>
              <a:rPr lang="en-ID" dirty="0" err="1"/>
              <a:t>Budaya</a:t>
            </a:r>
            <a:r>
              <a:rPr lang="en-ID" dirty="0"/>
              <a:t> &amp; Sejarah yang </a:t>
            </a:r>
            <a:r>
              <a:rPr lang="en-ID" dirty="0" err="1"/>
              <a:t>konteks</a:t>
            </a:r>
            <a:r>
              <a:rPr lang="en-ID" dirty="0"/>
              <a:t> </a:t>
            </a:r>
            <a:r>
              <a:rPr lang="en-ID" dirty="0" err="1"/>
              <a:t>kosa</a:t>
            </a:r>
            <a:r>
              <a:rPr lang="en-ID" dirty="0"/>
              <a:t> </a:t>
            </a:r>
            <a:r>
              <a:rPr lang="en-ID" dirty="0" err="1"/>
              <a:t>katanya</a:t>
            </a:r>
            <a:r>
              <a:rPr lang="en-ID" dirty="0"/>
              <a:t> </a:t>
            </a:r>
            <a:r>
              <a:rPr lang="en-ID" dirty="0" err="1"/>
              <a:t>berbeda</a:t>
            </a:r>
            <a:r>
              <a:rPr lang="en-ID" dirty="0"/>
              <a:t>?</a:t>
            </a:r>
          </a:p>
          <a:p>
            <a:r>
              <a:rPr lang="en-ID" dirty="0" err="1"/>
              <a:t>Spesifikasi</a:t>
            </a:r>
            <a:r>
              <a:rPr lang="en-ID" dirty="0"/>
              <a:t> Dataset: </a:t>
            </a:r>
            <a:r>
              <a:rPr lang="en-ID" dirty="0" err="1"/>
              <a:t>Menggunakan</a:t>
            </a:r>
            <a:r>
              <a:rPr lang="en-ID" dirty="0"/>
              <a:t> 3.876 baris data google maps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dibersihkan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552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B133-1ED7-4F92-DD56-8F06B47C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B7C8-BE39-93D8-6A1F-4AEC55F47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Pelabelan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: </a:t>
            </a:r>
            <a:r>
              <a:rPr lang="en-ID" dirty="0" err="1"/>
              <a:t>Memanfaatkan</a:t>
            </a:r>
            <a:r>
              <a:rPr lang="en-ID" dirty="0"/>
              <a:t> model (</a:t>
            </a:r>
            <a:r>
              <a:rPr lang="en-ID" i="1" dirty="0"/>
              <a:t>Zero-Shot LLM</a:t>
            </a:r>
            <a:r>
              <a:rPr lang="en-ID" dirty="0"/>
              <a:t>) mDeBERTa-v3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melabeli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 </a:t>
            </a:r>
            <a:r>
              <a:rPr lang="en-ID" dirty="0" err="1"/>
              <a:t>sentimen</a:t>
            </a:r>
            <a:r>
              <a:rPr lang="en-ID" dirty="0"/>
              <a:t> </a:t>
            </a:r>
            <a:r>
              <a:rPr lang="en-ID" dirty="0" err="1"/>
              <a:t>murni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ulasan</a:t>
            </a:r>
            <a:r>
              <a:rPr lang="en-ID" dirty="0"/>
              <a:t> demi </a:t>
            </a:r>
            <a:r>
              <a:rPr lang="en-ID" dirty="0" err="1"/>
              <a:t>memitigasi</a:t>
            </a:r>
            <a:r>
              <a:rPr lang="en-ID" dirty="0"/>
              <a:t> bias </a:t>
            </a:r>
            <a:r>
              <a:rPr lang="en-ID" dirty="0" err="1"/>
              <a:t>bintang</a:t>
            </a:r>
            <a:r>
              <a:rPr lang="en-ID" dirty="0"/>
              <a:t> 5.</a:t>
            </a:r>
          </a:p>
          <a:p>
            <a:r>
              <a:rPr lang="en-ID" dirty="0" err="1"/>
              <a:t>Pembagian</a:t>
            </a:r>
            <a:r>
              <a:rPr lang="en-ID" dirty="0"/>
              <a:t> </a:t>
            </a:r>
            <a:r>
              <a:rPr lang="en-ID" dirty="0" err="1"/>
              <a:t>Kluster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LLM: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Domain </a:t>
            </a:r>
            <a:r>
              <a:rPr lang="en-ID" dirty="0" err="1"/>
              <a:t>Sumber</a:t>
            </a:r>
            <a:r>
              <a:rPr lang="en-ID" dirty="0"/>
              <a:t> (Source Domain): </a:t>
            </a:r>
            <a:r>
              <a:rPr lang="en-ID" dirty="0" err="1"/>
              <a:t>Berisi</a:t>
            </a:r>
            <a:r>
              <a:rPr lang="en-ID" dirty="0"/>
              <a:t> 3.467 </a:t>
            </a:r>
            <a:r>
              <a:rPr lang="en-ID" dirty="0" err="1"/>
              <a:t>ulasan</a:t>
            </a:r>
            <a:r>
              <a:rPr lang="en-ID" dirty="0"/>
              <a:t> </a:t>
            </a:r>
            <a:r>
              <a:rPr lang="en-ID" dirty="0" err="1"/>
              <a:t>Kluster</a:t>
            </a:r>
            <a:r>
              <a:rPr lang="en-ID" dirty="0"/>
              <a:t> </a:t>
            </a:r>
            <a:r>
              <a:rPr lang="en-ID" dirty="0" err="1"/>
              <a:t>Wisata</a:t>
            </a:r>
            <a:r>
              <a:rPr lang="en-ID" dirty="0"/>
              <a:t> Alam (Pantai, </a:t>
            </a:r>
            <a:r>
              <a:rPr lang="en-ID" dirty="0" err="1"/>
              <a:t>Gunung</a:t>
            </a:r>
            <a:r>
              <a:rPr lang="en-ID" dirty="0"/>
              <a:t>, </a:t>
            </a:r>
            <a:r>
              <a:rPr lang="en-ID" dirty="0" err="1"/>
              <a:t>dll</a:t>
            </a:r>
            <a:r>
              <a:rPr lang="en-ID" dirty="0"/>
              <a:t>.) </a:t>
            </a:r>
            <a:r>
              <a:rPr lang="en-ID" dirty="0" err="1"/>
              <a:t>sebagai</a:t>
            </a:r>
            <a:r>
              <a:rPr lang="en-ID" dirty="0"/>
              <a:t> basis data </a:t>
            </a:r>
            <a:r>
              <a:rPr lang="en-ID" dirty="0" err="1"/>
              <a:t>latih</a:t>
            </a:r>
            <a:r>
              <a:rPr lang="en-ID" dirty="0"/>
              <a:t> model. Data </a:t>
            </a:r>
            <a:r>
              <a:rPr lang="en-ID" dirty="0" err="1"/>
              <a:t>dibagi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proporsional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Train Set (80%) dan Validation Set (20%).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Domain Target (Target Domain): </a:t>
            </a:r>
            <a:r>
              <a:rPr lang="en-ID" dirty="0" err="1"/>
              <a:t>Berisi</a:t>
            </a:r>
            <a:r>
              <a:rPr lang="en-ID" dirty="0"/>
              <a:t> 409 </a:t>
            </a:r>
            <a:r>
              <a:rPr lang="en-ID" dirty="0" err="1"/>
              <a:t>ulasan</a:t>
            </a:r>
            <a:r>
              <a:rPr lang="en-ID" dirty="0"/>
              <a:t> </a:t>
            </a:r>
            <a:r>
              <a:rPr lang="en-ID" dirty="0" err="1"/>
              <a:t>Kluster</a:t>
            </a:r>
            <a:r>
              <a:rPr lang="en-ID" dirty="0"/>
              <a:t> </a:t>
            </a:r>
            <a:r>
              <a:rPr lang="en-ID" dirty="0" err="1"/>
              <a:t>Wisata</a:t>
            </a:r>
            <a:r>
              <a:rPr lang="en-ID" dirty="0"/>
              <a:t> </a:t>
            </a:r>
            <a:r>
              <a:rPr lang="en-ID" dirty="0" err="1"/>
              <a:t>Budaya</a:t>
            </a:r>
            <a:r>
              <a:rPr lang="en-ID" dirty="0"/>
              <a:t> &amp; Sejarah (Candi, </a:t>
            </a:r>
            <a:r>
              <a:rPr lang="en-ID" dirty="0" err="1"/>
              <a:t>Keraton</a:t>
            </a:r>
            <a:r>
              <a:rPr lang="en-ID" dirty="0"/>
              <a:t>, Museum). Data </a:t>
            </a:r>
            <a:r>
              <a:rPr lang="en-ID" dirty="0" err="1"/>
              <a:t>diisolasi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Test Set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menguji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generalisasi</a:t>
            </a:r>
            <a:r>
              <a:rPr lang="en-ID" dirty="0"/>
              <a:t> model pada domain </a:t>
            </a:r>
            <a:r>
              <a:rPr lang="en-ID" dirty="0" err="1"/>
              <a:t>baru</a:t>
            </a:r>
            <a:r>
              <a:rPr lang="en-ID" dirty="0"/>
              <a:t> (unseen domain).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16216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64098-7E94-E594-3573-6561D1DD3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Confidence Score LLM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453DF8-301E-558C-B208-A0B2E2F89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8233" y="1887792"/>
            <a:ext cx="6715664" cy="47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9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F905-5952-1DD9-D682-6C38498E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Confidence Score LLM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FC74B1-6549-A085-E071-2DBEC9D40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9071" y="1691322"/>
            <a:ext cx="7000799" cy="497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4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8AAAC-DC78-02F6-2064-B23D7BE2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Proporsi</a:t>
            </a:r>
            <a:r>
              <a:rPr lang="en-ID" dirty="0"/>
              <a:t> Domain </a:t>
            </a:r>
            <a:r>
              <a:rPr lang="en-ID" dirty="0" err="1"/>
              <a:t>Kluster</a:t>
            </a:r>
            <a:r>
              <a:rPr lang="en-ID" dirty="0"/>
              <a:t> </a:t>
            </a:r>
            <a:r>
              <a:rPr lang="en-ID" dirty="0" err="1"/>
              <a:t>Wisata</a:t>
            </a:r>
            <a:endParaRPr lang="en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30E758-B518-1FFA-42C1-2E10D19F3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6491" y="1838632"/>
            <a:ext cx="54464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41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A7F5E-9211-AD65-F1F5-E69EEA85A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1512201"/>
          </a:xfrm>
        </p:spPr>
        <p:txBody>
          <a:bodyPr/>
          <a:lstStyle/>
          <a:p>
            <a:r>
              <a:rPr lang="en-ID" dirty="0" err="1"/>
              <a:t>Pemilihan</a:t>
            </a:r>
            <a:r>
              <a:rPr lang="en-ID" dirty="0"/>
              <a:t> Model &amp; </a:t>
            </a:r>
            <a:r>
              <a:rPr lang="en-ID" dirty="0" err="1"/>
              <a:t>Konfigurasi</a:t>
            </a:r>
            <a:r>
              <a:rPr lang="en-ID" dirty="0"/>
              <a:t>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C7D95-3BEA-314E-F884-153330390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2074606"/>
            <a:ext cx="9692639" cy="4417635"/>
          </a:xfrm>
        </p:spPr>
        <p:txBody>
          <a:bodyPr>
            <a:normAutofit fontScale="92500" lnSpcReduction="10000"/>
          </a:bodyPr>
          <a:lstStyle/>
          <a:p>
            <a:r>
              <a:rPr lang="en-ID" dirty="0"/>
              <a:t>Pre-trained Models: </a:t>
            </a:r>
            <a:r>
              <a:rPr lang="en-US" dirty="0" err="1"/>
              <a:t>Mengevaluasi</a:t>
            </a:r>
            <a:r>
              <a:rPr lang="en-US" dirty="0"/>
              <a:t> dua </a:t>
            </a:r>
            <a:r>
              <a:rPr lang="en-US" dirty="0" err="1"/>
              <a:t>arsitektur</a:t>
            </a:r>
            <a:r>
              <a:rPr lang="en-US" dirty="0"/>
              <a:t> pada Hugging Face Hub: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IndoBERT (indobert-base-p1): Representasi model bahasa monolingual (lokal)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XLM-</a:t>
            </a:r>
            <a:r>
              <a:rPr lang="en-ID" dirty="0" err="1"/>
              <a:t>RoBERTa</a:t>
            </a:r>
            <a:r>
              <a:rPr lang="en-ID" dirty="0"/>
              <a:t> (</a:t>
            </a:r>
            <a:r>
              <a:rPr lang="en-ID" dirty="0" err="1"/>
              <a:t>xlm</a:t>
            </a:r>
            <a:r>
              <a:rPr lang="en-ID" dirty="0"/>
              <a:t>-</a:t>
            </a:r>
            <a:r>
              <a:rPr lang="en-ID" dirty="0" err="1"/>
              <a:t>roberta</a:t>
            </a:r>
            <a:r>
              <a:rPr lang="en-ID" dirty="0"/>
              <a:t>-base): </a:t>
            </a:r>
            <a:r>
              <a:rPr lang="en-ID" dirty="0" err="1"/>
              <a:t>Representasi</a:t>
            </a:r>
            <a:r>
              <a:rPr lang="en-ID" dirty="0"/>
              <a:t> model </a:t>
            </a:r>
            <a:r>
              <a:rPr lang="en-ID" dirty="0" err="1"/>
              <a:t>bahasa</a:t>
            </a:r>
            <a:r>
              <a:rPr lang="en-ID" dirty="0"/>
              <a:t> multilingual (global)</a:t>
            </a:r>
          </a:p>
          <a:p>
            <a:r>
              <a:rPr lang="en-ID" dirty="0"/>
              <a:t>Parameter-Efficient Fine-Tuning / PEFT: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Mengimplementasikan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LoRA</a:t>
            </a:r>
            <a:r>
              <a:rPr lang="en-ID" dirty="0"/>
              <a:t> (rank r=8, </a:t>
            </a:r>
            <a:r>
              <a:rPr lang="el-GR" dirty="0"/>
              <a:t>α=16) </a:t>
            </a:r>
            <a:r>
              <a:rPr lang="en-ID" dirty="0"/>
              <a:t>pada </a:t>
            </a:r>
            <a:r>
              <a:rPr lang="en-ID" dirty="0" err="1"/>
              <a:t>modul</a:t>
            </a:r>
            <a:r>
              <a:rPr lang="en-ID" dirty="0"/>
              <a:t> internal attention (query, value). Metode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membatasi</a:t>
            </a:r>
            <a:r>
              <a:rPr lang="en-ID" dirty="0"/>
              <a:t> parameter </a:t>
            </a:r>
            <a:r>
              <a:rPr lang="en-ID" dirty="0" err="1"/>
              <a:t>latih</a:t>
            </a:r>
            <a:r>
              <a:rPr lang="en-ID" dirty="0"/>
              <a:t> </a:t>
            </a:r>
            <a:r>
              <a:rPr lang="en-ID" dirty="0" err="1"/>
              <a:t>aktif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&lt; 0,31%,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menghemat</a:t>
            </a:r>
            <a:r>
              <a:rPr lang="en-ID" dirty="0"/>
              <a:t> proses </a:t>
            </a:r>
            <a:r>
              <a:rPr lang="en-ID" dirty="0" err="1"/>
              <a:t>komputasi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optimal di T4 GPU.</a:t>
            </a:r>
          </a:p>
          <a:p>
            <a:r>
              <a:rPr lang="en-ID" dirty="0" err="1"/>
              <a:t>Eksplorasi</a:t>
            </a:r>
            <a:r>
              <a:rPr lang="en-ID" dirty="0"/>
              <a:t> Hyperparameter: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Learning Rate = 2e-4 (</a:t>
            </a:r>
            <a:r>
              <a:rPr lang="en-ID" dirty="0" err="1"/>
              <a:t>Konfigurasi</a:t>
            </a:r>
            <a:r>
              <a:rPr lang="en-ID" dirty="0"/>
              <a:t> ideal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pembaruan</a:t>
            </a:r>
            <a:r>
              <a:rPr lang="en-ID" dirty="0"/>
              <a:t> </a:t>
            </a:r>
            <a:r>
              <a:rPr lang="en-ID" dirty="0" err="1"/>
              <a:t>bobot</a:t>
            </a:r>
            <a:r>
              <a:rPr lang="en-ID" dirty="0"/>
              <a:t> adapter </a:t>
            </a:r>
            <a:r>
              <a:rPr lang="en-ID" dirty="0" err="1"/>
              <a:t>LoRA</a:t>
            </a:r>
            <a:r>
              <a:rPr lang="en-ID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Batch Size = 32 (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stabilitas</a:t>
            </a:r>
            <a:r>
              <a:rPr lang="en-ID" dirty="0"/>
              <a:t> </a:t>
            </a:r>
            <a:r>
              <a:rPr lang="en-ID" dirty="0" err="1"/>
              <a:t>gradien</a:t>
            </a:r>
            <a:r>
              <a:rPr lang="en-ID" dirty="0"/>
              <a:t> </a:t>
            </a:r>
            <a:r>
              <a:rPr lang="en-ID" dirty="0" err="1"/>
              <a:t>komputasi</a:t>
            </a:r>
            <a:r>
              <a:rPr lang="en-ID" dirty="0"/>
              <a:t> dan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Epochs = 3 (Mencapai titik konvergensi terbaik untuk meminimalkan risiko overfitting).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4483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B354-DF26-8F3B-605B-7008FFCE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040253"/>
          </a:xfrm>
        </p:spPr>
        <p:txBody>
          <a:bodyPr/>
          <a:lstStyle/>
          <a:p>
            <a:r>
              <a:rPr lang="en-US" dirty="0"/>
              <a:t>Hasil</a:t>
            </a:r>
            <a:endParaRPr lang="en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9C6FF1-4479-B065-9AFF-162313A3A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3961" y="1532713"/>
            <a:ext cx="8327626" cy="495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7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43C5A-4C12-7445-A1F1-34583C5A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5E3CF-454F-3795-270C-EA7288D40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74607"/>
            <a:ext cx="8595360" cy="2635046"/>
          </a:xfrm>
        </p:spPr>
        <p:txBody>
          <a:bodyPr>
            <a:normAutofit/>
          </a:bodyPr>
          <a:lstStyle/>
          <a:p>
            <a:r>
              <a:rPr lang="en-ID" dirty="0"/>
              <a:t>Model monolingual </a:t>
            </a:r>
            <a:r>
              <a:rPr lang="en-ID" dirty="0" err="1"/>
              <a:t>IndoBERT</a:t>
            </a:r>
            <a:r>
              <a:rPr lang="en-ID" dirty="0"/>
              <a:t> </a:t>
            </a:r>
            <a:r>
              <a:rPr lang="en-ID" dirty="0" err="1"/>
              <a:t>memenangkan</a:t>
            </a:r>
            <a:r>
              <a:rPr lang="en-ID" dirty="0"/>
              <a:t> </a:t>
            </a:r>
            <a:r>
              <a:rPr lang="en-ID" dirty="0" err="1"/>
              <a:t>metrik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Macro F1-Score (0.7288). </a:t>
            </a:r>
            <a:r>
              <a:rPr lang="en-ID" dirty="0" err="1"/>
              <a:t>Kekayaan</a:t>
            </a:r>
            <a:r>
              <a:rPr lang="en-ID" dirty="0"/>
              <a:t> </a:t>
            </a:r>
            <a:r>
              <a:rPr lang="en-ID" dirty="0" err="1"/>
              <a:t>korpus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Indonesia </a:t>
            </a:r>
            <a:r>
              <a:rPr lang="en-ID" dirty="0" err="1"/>
              <a:t>membuatnya</a:t>
            </a:r>
            <a:r>
              <a:rPr lang="en-ID" dirty="0"/>
              <a:t> </a:t>
            </a:r>
            <a:r>
              <a:rPr lang="en-ID" dirty="0" err="1"/>
              <a:t>jauh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sensitif</a:t>
            </a:r>
            <a:r>
              <a:rPr lang="en-ID" dirty="0"/>
              <a:t> (Recall </a:t>
            </a:r>
            <a:r>
              <a:rPr lang="en-ID" dirty="0" err="1"/>
              <a:t>tinggi</a:t>
            </a:r>
            <a:r>
              <a:rPr lang="en-ID" dirty="0"/>
              <a:t>)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menangkap</a:t>
            </a:r>
            <a:r>
              <a:rPr lang="en-ID" dirty="0"/>
              <a:t> </a:t>
            </a:r>
            <a:r>
              <a:rPr lang="en-ID" dirty="0" err="1"/>
              <a:t>sinyal</a:t>
            </a:r>
            <a:r>
              <a:rPr lang="en-ID" dirty="0"/>
              <a:t> </a:t>
            </a:r>
            <a:r>
              <a:rPr lang="en-ID" dirty="0" err="1"/>
              <a:t>pergeseran</a:t>
            </a:r>
            <a:r>
              <a:rPr lang="en-ID" dirty="0"/>
              <a:t> </a:t>
            </a:r>
            <a:r>
              <a:rPr lang="en-ID" dirty="0" err="1"/>
              <a:t>kosakata</a:t>
            </a:r>
            <a:r>
              <a:rPr lang="en-ID" dirty="0"/>
              <a:t> </a:t>
            </a:r>
            <a:r>
              <a:rPr lang="en-ID" dirty="0" err="1"/>
              <a:t>keluhan</a:t>
            </a:r>
            <a:r>
              <a:rPr lang="en-ID" dirty="0"/>
              <a:t> di </a:t>
            </a:r>
            <a:r>
              <a:rPr lang="en-ID" dirty="0" err="1"/>
              <a:t>destinasi</a:t>
            </a:r>
            <a:r>
              <a:rPr lang="en-ID" dirty="0"/>
              <a:t> </a:t>
            </a:r>
            <a:r>
              <a:rPr lang="en-ID" dirty="0" err="1"/>
              <a:t>pariwisata</a:t>
            </a:r>
            <a:r>
              <a:rPr lang="en-ID" dirty="0"/>
              <a:t>.</a:t>
            </a:r>
          </a:p>
          <a:p>
            <a:r>
              <a:rPr lang="en-ID" dirty="0"/>
              <a:t>Model multilingual XLM-</a:t>
            </a:r>
            <a:r>
              <a:rPr lang="en-ID" dirty="0" err="1"/>
              <a:t>RoBERTa</a:t>
            </a:r>
            <a:r>
              <a:rPr lang="en-ID" dirty="0"/>
              <a:t> </a:t>
            </a:r>
            <a:r>
              <a:rPr lang="en-ID" dirty="0" err="1"/>
              <a:t>memimpin</a:t>
            </a:r>
            <a:r>
              <a:rPr lang="en-ID" dirty="0"/>
              <a:t> pada Macro Precision (0.8957). Model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cenderung</a:t>
            </a:r>
            <a:r>
              <a:rPr lang="en-ID" dirty="0"/>
              <a:t> sangat </a:t>
            </a:r>
            <a:r>
              <a:rPr lang="en-ID" dirty="0" err="1"/>
              <a:t>berhati-hati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memutuskan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sentimen</a:t>
            </a:r>
            <a:r>
              <a:rPr lang="en-ID" dirty="0"/>
              <a:t>, </a:t>
            </a:r>
            <a:r>
              <a:rPr lang="en-ID" dirty="0" err="1"/>
              <a:t>meskipun</a:t>
            </a:r>
            <a:r>
              <a:rPr lang="en-ID" dirty="0"/>
              <a:t> </a:t>
            </a:r>
            <a:r>
              <a:rPr lang="en-ID" dirty="0" err="1"/>
              <a:t>berdampak</a:t>
            </a:r>
            <a:r>
              <a:rPr lang="en-ID" dirty="0"/>
              <a:t> pada </a:t>
            </a:r>
            <a:r>
              <a:rPr lang="en-ID" dirty="0" err="1"/>
              <a:t>banyaknya</a:t>
            </a:r>
            <a:r>
              <a:rPr lang="en-ID" dirty="0"/>
              <a:t> </a:t>
            </a:r>
            <a:r>
              <a:rPr lang="en-ID" dirty="0" err="1"/>
              <a:t>ulasan</a:t>
            </a:r>
            <a:r>
              <a:rPr lang="en-ID" dirty="0"/>
              <a:t> </a:t>
            </a:r>
            <a:r>
              <a:rPr lang="en-ID" dirty="0" err="1"/>
              <a:t>negatif</a:t>
            </a:r>
            <a:r>
              <a:rPr lang="en-ID" dirty="0"/>
              <a:t> yang </a:t>
            </a:r>
            <a:r>
              <a:rPr lang="en-ID" dirty="0" err="1"/>
              <a:t>terlewat</a:t>
            </a:r>
            <a:r>
              <a:rPr lang="en-ID" dirty="0"/>
              <a:t> (Recall </a:t>
            </a:r>
            <a:r>
              <a:rPr lang="en-ID" dirty="0" err="1"/>
              <a:t>rendah</a:t>
            </a:r>
            <a:r>
              <a:rPr lang="en-ID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57484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16E7E-B19A-EDE4-866D-18D8A24B9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Training Loss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9FE4FE-11BA-A14C-C382-7842F31A6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140" y="1828800"/>
            <a:ext cx="78945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39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5673-1D1C-3AB2-93B6-D73EEA2C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Kausalitas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7CB22-EFD7-063C-CB87-3424A7191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799303"/>
            <a:ext cx="8595360" cy="4351337"/>
          </a:xfrm>
        </p:spPr>
        <p:txBody>
          <a:bodyPr>
            <a:normAutofit lnSpcReduction="10000"/>
          </a:bodyPr>
          <a:lstStyle/>
          <a:p>
            <a:r>
              <a:rPr lang="en-ID" dirty="0" err="1"/>
              <a:t>Korelasi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Data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Penurunan</a:t>
            </a:r>
            <a:r>
              <a:rPr lang="en-ID" dirty="0"/>
              <a:t> Loss: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Tingginya</a:t>
            </a:r>
            <a:r>
              <a:rPr lang="en-ID" dirty="0"/>
              <a:t> rata-rata Confidence Score LLM pada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Positif</a:t>
            </a:r>
            <a:r>
              <a:rPr lang="en-ID" dirty="0"/>
              <a:t> (0.9082) dan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Negatif</a:t>
            </a:r>
            <a:r>
              <a:rPr lang="en-ID" dirty="0"/>
              <a:t> (0.7666)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jaminan</a:t>
            </a:r>
            <a:r>
              <a:rPr lang="en-ID" dirty="0"/>
              <a:t> data </a:t>
            </a:r>
            <a:r>
              <a:rPr lang="en-ID" dirty="0" err="1"/>
              <a:t>latih</a:t>
            </a:r>
            <a:r>
              <a:rPr lang="en-ID" dirty="0"/>
              <a:t> (Source Domain) yang </a:t>
            </a:r>
            <a:r>
              <a:rPr lang="en-ID" dirty="0" err="1"/>
              <a:t>bersih</a:t>
            </a:r>
            <a:r>
              <a:rPr lang="en-ID" dirty="0"/>
              <a:t> dan minim noise.</a:t>
            </a:r>
          </a:p>
          <a:p>
            <a:pPr marL="342900" indent="-342900">
              <a:buFont typeface="+mj-lt"/>
              <a:buAutoNum type="arabicPeriod"/>
            </a:pPr>
            <a:r>
              <a:rPr lang="sv-SE" dirty="0"/>
              <a:t>Kualitas pelabelan ini berdampak langsung pada kestabilan fase fine-tuning, terbukti dari kurva Training Loss kedua model yang mampu konvergen secara mulus di bawah angka 0.20.</a:t>
            </a:r>
            <a:endParaRPr lang="en-ID" dirty="0"/>
          </a:p>
          <a:p>
            <a:r>
              <a:rPr lang="fr-FR" dirty="0" err="1"/>
              <a:t>Validitas</a:t>
            </a:r>
            <a:r>
              <a:rPr lang="fr-FR" dirty="0"/>
              <a:t> </a:t>
            </a:r>
            <a:r>
              <a:rPr lang="fr-FR" dirty="0" err="1"/>
              <a:t>Validasi</a:t>
            </a:r>
            <a:r>
              <a:rPr lang="fr-FR" dirty="0"/>
              <a:t> </a:t>
            </a:r>
            <a:r>
              <a:rPr lang="fr-FR" dirty="0" err="1"/>
              <a:t>Silang</a:t>
            </a:r>
            <a:r>
              <a:rPr lang="fr-FR" dirty="0"/>
              <a:t> </a:t>
            </a:r>
            <a:r>
              <a:rPr lang="fr-FR" dirty="0" err="1"/>
              <a:t>Lintas</a:t>
            </a:r>
            <a:r>
              <a:rPr lang="fr-FR" dirty="0"/>
              <a:t> Domain (Cross-Domain Validation):</a:t>
            </a:r>
          </a:p>
          <a:p>
            <a:pPr marL="342900" indent="-342900">
              <a:buFont typeface="+mj-lt"/>
              <a:buAutoNum type="arabicPeriod"/>
            </a:pPr>
            <a:r>
              <a:rPr lang="sv-SE" dirty="0"/>
              <a:t>Pemisahan kontekstual oleh LLM menghasilkan batas kluster pariwisata (3.467 Alam vs 409 Budaya).</a:t>
            </a:r>
          </a:p>
          <a:p>
            <a:pPr marL="342900" indent="-342900">
              <a:buFont typeface="+mj-lt"/>
              <a:buAutoNum type="arabicPeriod"/>
            </a:pPr>
            <a:r>
              <a:rPr lang="sv-SE" dirty="0"/>
              <a:t>Akurasi pengklusteran ini menciptakan skenario Domain Adaptation yang valid, di mana model menguji kemampuannya pada data baru (unseen domain) dengan  Support 409 ulasan.</a:t>
            </a:r>
          </a:p>
        </p:txBody>
      </p:sp>
    </p:spTree>
    <p:extLst>
      <p:ext uri="{BB962C8B-B14F-4D97-AF65-F5344CB8AC3E}">
        <p14:creationId xmlns:p14="http://schemas.microsoft.com/office/powerpoint/2010/main" val="2625009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571E-C885-80FE-96BF-A3BE3F71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Kausalitas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122D6-F550-7207-5128-93299C533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Alasan </a:t>
            </a:r>
            <a:r>
              <a:rPr lang="en-ID" dirty="0" err="1"/>
              <a:t>Keunggulan</a:t>
            </a:r>
            <a:r>
              <a:rPr lang="en-ID" dirty="0"/>
              <a:t> </a:t>
            </a:r>
            <a:r>
              <a:rPr lang="en-ID" dirty="0" err="1"/>
              <a:t>IndoBERT</a:t>
            </a:r>
            <a:r>
              <a:rPr lang="en-ID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Ulasan</a:t>
            </a:r>
            <a:r>
              <a:rPr lang="en-ID" dirty="0"/>
              <a:t> </a:t>
            </a:r>
            <a:r>
              <a:rPr lang="en-ID" dirty="0" err="1"/>
              <a:t>Kluster</a:t>
            </a:r>
            <a:r>
              <a:rPr lang="en-ID" dirty="0"/>
              <a:t> </a:t>
            </a:r>
            <a:r>
              <a:rPr lang="en-ID" dirty="0" err="1"/>
              <a:t>Budaya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ekstraksi</a:t>
            </a:r>
            <a:r>
              <a:rPr lang="en-ID" dirty="0"/>
              <a:t> LLM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sintaksis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formal dan </a:t>
            </a:r>
            <a:r>
              <a:rPr lang="en-ID" dirty="0" err="1"/>
              <a:t>kompleks</a:t>
            </a:r>
            <a:r>
              <a:rPr lang="en-ID" dirty="0"/>
              <a:t> (Skor LLM: 0.8539).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IndoBERT</a:t>
            </a:r>
            <a:r>
              <a:rPr lang="en-ID" dirty="0"/>
              <a:t> (Monolingual):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penyelarasan</a:t>
            </a:r>
            <a:r>
              <a:rPr lang="en-ID" dirty="0"/>
              <a:t> </a:t>
            </a:r>
            <a:r>
              <a:rPr lang="en-ID" dirty="0" err="1"/>
              <a:t>semantik</a:t>
            </a:r>
            <a:r>
              <a:rPr lang="en-ID" dirty="0"/>
              <a:t> (vocabulary alignment) yang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diksi</a:t>
            </a:r>
            <a:r>
              <a:rPr lang="en-ID" dirty="0"/>
              <a:t> </a:t>
            </a:r>
            <a:r>
              <a:rPr lang="en-ID" dirty="0" err="1"/>
              <a:t>keluhan</a:t>
            </a:r>
            <a:r>
              <a:rPr lang="en-ID" dirty="0"/>
              <a:t> </a:t>
            </a:r>
            <a:r>
              <a:rPr lang="en-ID" dirty="0" err="1"/>
              <a:t>lokal</a:t>
            </a:r>
            <a:r>
              <a:rPr lang="en-ID" dirty="0"/>
              <a:t> Indonesia,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keseimbangan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optimal (Macro F1-Score: 0.7480).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/>
              <a:t>XLM-</a:t>
            </a:r>
            <a:r>
              <a:rPr lang="en-ID" dirty="0" err="1"/>
              <a:t>RoBERTa</a:t>
            </a:r>
            <a:r>
              <a:rPr lang="en-ID" dirty="0"/>
              <a:t> (Multilingual):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menangkap</a:t>
            </a:r>
            <a:r>
              <a:rPr lang="en-ID" dirty="0"/>
              <a:t> </a:t>
            </a:r>
            <a:r>
              <a:rPr lang="en-ID" dirty="0" err="1"/>
              <a:t>jembatan</a:t>
            </a:r>
            <a:r>
              <a:rPr lang="en-ID" dirty="0"/>
              <a:t> </a:t>
            </a:r>
            <a:r>
              <a:rPr lang="en-ID" dirty="0" err="1"/>
              <a:t>semantik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kasual</a:t>
            </a:r>
            <a:r>
              <a:rPr lang="en-ID" dirty="0"/>
              <a:t> Indonesia </a:t>
            </a:r>
            <a:r>
              <a:rPr lang="en-ID" dirty="0" err="1"/>
              <a:t>lintas</a:t>
            </a:r>
            <a:r>
              <a:rPr lang="en-ID" dirty="0"/>
              <a:t> domain </a:t>
            </a:r>
            <a:r>
              <a:rPr lang="en-ID" dirty="0" err="1"/>
              <a:t>pariwisata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memicu</a:t>
            </a:r>
            <a:r>
              <a:rPr lang="en-ID" dirty="0"/>
              <a:t> </a:t>
            </a:r>
            <a:r>
              <a:rPr lang="en-ID" dirty="0" err="1"/>
              <a:t>kaku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 (Recall </a:t>
            </a:r>
            <a:r>
              <a:rPr lang="en-ID" dirty="0" err="1"/>
              <a:t>Negatif</a:t>
            </a:r>
            <a:r>
              <a:rPr lang="en-ID" dirty="0"/>
              <a:t> </a:t>
            </a:r>
            <a:r>
              <a:rPr lang="en-ID" dirty="0" err="1"/>
              <a:t>anjlok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31.58%).</a:t>
            </a:r>
          </a:p>
        </p:txBody>
      </p:sp>
    </p:spTree>
    <p:extLst>
      <p:ext uri="{BB962C8B-B14F-4D97-AF65-F5344CB8AC3E}">
        <p14:creationId xmlns:p14="http://schemas.microsoft.com/office/powerpoint/2010/main" val="3385518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835CA-00DB-6022-EAE7-A6AED511F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725621"/>
          </a:xfrm>
        </p:spPr>
        <p:txBody>
          <a:bodyPr>
            <a:normAutofit/>
          </a:bodyPr>
          <a:lstStyle/>
          <a:p>
            <a:r>
              <a:rPr lang="en-US" dirty="0"/>
              <a:t>Kesimpulan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EA8A2-979C-443E-BACB-35FE77B51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7" y="1268360"/>
            <a:ext cx="10363200" cy="4788311"/>
          </a:xfrm>
        </p:spPr>
        <p:txBody>
          <a:bodyPr>
            <a:noAutofit/>
          </a:bodyPr>
          <a:lstStyle/>
          <a:p>
            <a:r>
              <a:rPr lang="en-ID" dirty="0"/>
              <a:t>Integrasi Zero-Shot LLM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mengekstrak</a:t>
            </a:r>
            <a:r>
              <a:rPr lang="en-ID" dirty="0"/>
              <a:t> </a:t>
            </a:r>
            <a:r>
              <a:rPr lang="en-ID" dirty="0" err="1"/>
              <a:t>sentimen</a:t>
            </a:r>
            <a:r>
              <a:rPr lang="en-ID" dirty="0"/>
              <a:t> </a:t>
            </a:r>
            <a:r>
              <a:rPr lang="en-ID" dirty="0" err="1"/>
              <a:t>ulasan</a:t>
            </a:r>
            <a:r>
              <a:rPr lang="en-ID" dirty="0"/>
              <a:t> </a:t>
            </a:r>
            <a:r>
              <a:rPr lang="en-ID" dirty="0" err="1"/>
              <a:t>objektif</a:t>
            </a:r>
            <a:r>
              <a:rPr lang="en-ID" dirty="0"/>
              <a:t> guna </a:t>
            </a:r>
            <a:r>
              <a:rPr lang="en-ID" dirty="0" err="1"/>
              <a:t>memitigasi</a:t>
            </a:r>
            <a:r>
              <a:rPr lang="en-ID" dirty="0"/>
              <a:t> rating bias di Google Maps.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pengolahan</a:t>
            </a:r>
            <a:r>
              <a:rPr lang="en-ID" dirty="0"/>
              <a:t> data </a:t>
            </a:r>
            <a:r>
              <a:rPr lang="en-ID" dirty="0" err="1"/>
              <a:t>lokal</a:t>
            </a:r>
            <a:r>
              <a:rPr lang="en-ID" dirty="0"/>
              <a:t>, model monolingual (</a:t>
            </a:r>
            <a:r>
              <a:rPr lang="en-ID" dirty="0" err="1"/>
              <a:t>IndoBERT</a:t>
            </a:r>
            <a:r>
              <a:rPr lang="en-ID" dirty="0"/>
              <a:t>) </a:t>
            </a:r>
            <a:r>
              <a:rPr lang="en-ID" dirty="0" err="1"/>
              <a:t>terbukti</a:t>
            </a:r>
            <a:r>
              <a:rPr lang="en-ID" dirty="0"/>
              <a:t> </a:t>
            </a:r>
            <a:r>
              <a:rPr lang="en-ID" dirty="0" err="1"/>
              <a:t>jauh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peka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 </a:t>
            </a:r>
            <a:r>
              <a:rPr lang="en-ID" dirty="0" err="1"/>
              <a:t>diksi</a:t>
            </a:r>
            <a:r>
              <a:rPr lang="en-ID" dirty="0"/>
              <a:t> </a:t>
            </a:r>
            <a:r>
              <a:rPr lang="en-ID" dirty="0" err="1"/>
              <a:t>keluhan</a:t>
            </a:r>
            <a:r>
              <a:rPr lang="en-ID" dirty="0"/>
              <a:t> dan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kasual</a:t>
            </a:r>
            <a:r>
              <a:rPr lang="en-ID" dirty="0"/>
              <a:t> Indonesia </a:t>
            </a:r>
            <a:r>
              <a:rPr lang="en-ID" dirty="0" err="1"/>
              <a:t>dibandingkan</a:t>
            </a:r>
            <a:r>
              <a:rPr lang="en-ID" dirty="0"/>
              <a:t> model multilingual global (XLM-</a:t>
            </a:r>
            <a:r>
              <a:rPr lang="en-ID" dirty="0" err="1"/>
              <a:t>RoBERTa</a:t>
            </a:r>
            <a:r>
              <a:rPr lang="en-ID" dirty="0"/>
              <a:t>).</a:t>
            </a:r>
          </a:p>
          <a:p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membuktikan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model NLP, </a:t>
            </a:r>
            <a:r>
              <a:rPr lang="en-ID" dirty="0" err="1"/>
              <a:t>khususnya</a:t>
            </a:r>
            <a:r>
              <a:rPr lang="en-ID" dirty="0"/>
              <a:t> </a:t>
            </a:r>
            <a:r>
              <a:rPr lang="en-ID" dirty="0" err="1"/>
              <a:t>IndoBERT</a:t>
            </a:r>
            <a:r>
              <a:rPr lang="en-ID" dirty="0"/>
              <a:t>, </a:t>
            </a:r>
            <a:r>
              <a:rPr lang="en-ID" dirty="0" err="1"/>
              <a:t>terbukti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tangguh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ditransfer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domain </a:t>
            </a:r>
            <a:r>
              <a:rPr lang="en-ID" dirty="0" err="1"/>
              <a:t>baru</a:t>
            </a:r>
            <a:r>
              <a:rPr lang="en-ID" dirty="0"/>
              <a:t> (</a:t>
            </a:r>
            <a:r>
              <a:rPr lang="en-ID" dirty="0" err="1"/>
              <a:t>Wisata</a:t>
            </a:r>
            <a:r>
              <a:rPr lang="en-ID" dirty="0"/>
              <a:t> </a:t>
            </a:r>
            <a:r>
              <a:rPr lang="en-ID" dirty="0" err="1"/>
              <a:t>Budaya</a:t>
            </a:r>
            <a:r>
              <a:rPr lang="en-ID" dirty="0"/>
              <a:t> &amp; Sejarah)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capaian</a:t>
            </a:r>
            <a:r>
              <a:rPr lang="en-ID" dirty="0"/>
              <a:t> Macro F1-Score </a:t>
            </a:r>
            <a:r>
              <a:rPr lang="en-ID" dirty="0" err="1"/>
              <a:t>sebesar</a:t>
            </a:r>
            <a:r>
              <a:rPr lang="en-ID" dirty="0"/>
              <a:t> 0.7288. </a:t>
            </a:r>
            <a:r>
              <a:rPr lang="en-ID" dirty="0" err="1"/>
              <a:t>Keberhasilan</a:t>
            </a:r>
            <a:r>
              <a:rPr lang="en-ID" dirty="0"/>
              <a:t> transfer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lintas</a:t>
            </a:r>
            <a:r>
              <a:rPr lang="en-ID" dirty="0"/>
              <a:t> domain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didasari</a:t>
            </a:r>
            <a:r>
              <a:rPr lang="en-ID" dirty="0"/>
              <a:t> oleh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sebab-akibat</a:t>
            </a:r>
            <a:r>
              <a:rPr lang="en-ID" dirty="0"/>
              <a:t> yang </a:t>
            </a:r>
            <a:r>
              <a:rPr lang="en-ID" dirty="0" err="1"/>
              <a:t>kuat</a:t>
            </a:r>
            <a:r>
              <a:rPr lang="en-ID" dirty="0"/>
              <a:t>, di mana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pembersihan</a:t>
            </a:r>
            <a:r>
              <a:rPr lang="en-ID" dirty="0"/>
              <a:t> data oleh LLM di </a:t>
            </a:r>
            <a:r>
              <a:rPr lang="en-ID" dirty="0" err="1"/>
              <a:t>fase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pondasi</a:t>
            </a:r>
            <a:r>
              <a:rPr lang="en-ID" dirty="0"/>
              <a:t> </a:t>
            </a:r>
            <a:r>
              <a:rPr lang="en-ID" dirty="0" err="1"/>
              <a:t>semantik</a:t>
            </a:r>
            <a:r>
              <a:rPr lang="en-ID" dirty="0"/>
              <a:t> yang </a:t>
            </a:r>
            <a:r>
              <a:rPr lang="en-ID" dirty="0" err="1"/>
              <a:t>bersih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model </a:t>
            </a:r>
            <a:r>
              <a:rPr lang="en-ID" dirty="0" err="1"/>
              <a:t>akhir</a:t>
            </a:r>
            <a:r>
              <a:rPr lang="en-ID" dirty="0"/>
              <a:t> </a:t>
            </a:r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menjembatani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kosakata</a:t>
            </a:r>
            <a:r>
              <a:rPr lang="en-ID" dirty="0"/>
              <a:t> </a:t>
            </a:r>
            <a:r>
              <a:rPr lang="en-ID" dirty="0" err="1"/>
              <a:t>antar-kluster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optimal.</a:t>
            </a:r>
          </a:p>
          <a:p>
            <a:r>
              <a:rPr lang="en-ID" dirty="0" err="1"/>
              <a:t>Penerapan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adaptasi</a:t>
            </a:r>
            <a:r>
              <a:rPr lang="en-ID" dirty="0"/>
              <a:t> parameter (</a:t>
            </a:r>
            <a:r>
              <a:rPr lang="en-ID" dirty="0" err="1"/>
              <a:t>LoRA</a:t>
            </a:r>
            <a:r>
              <a:rPr lang="en-ID" dirty="0"/>
              <a:t>) </a:t>
            </a:r>
            <a:r>
              <a:rPr lang="en-ID" dirty="0" err="1"/>
              <a:t>membuktikan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pemantauan</a:t>
            </a:r>
            <a:r>
              <a:rPr lang="en-ID" dirty="0"/>
              <a:t> </a:t>
            </a:r>
            <a:r>
              <a:rPr lang="en-ID" dirty="0" err="1"/>
              <a:t>ulasan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lintas</a:t>
            </a:r>
            <a:r>
              <a:rPr lang="en-ID" dirty="0"/>
              <a:t> </a:t>
            </a:r>
            <a:r>
              <a:rPr lang="en-ID" dirty="0" err="1"/>
              <a:t>kluster</a:t>
            </a:r>
            <a:r>
              <a:rPr lang="en-ID" dirty="0"/>
              <a:t> </a:t>
            </a:r>
            <a:r>
              <a:rPr lang="en-ID" dirty="0" err="1"/>
              <a:t>wisata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dibangun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optimal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infrastruktur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yang mahal. </a:t>
            </a:r>
            <a:r>
              <a:rPr lang="en-ID" dirty="0" err="1"/>
              <a:t>Kombinasi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yang </a:t>
            </a:r>
            <a:r>
              <a:rPr lang="en-ID" dirty="0" err="1"/>
              <a:t>praktis</a:t>
            </a:r>
            <a:r>
              <a:rPr lang="en-ID" dirty="0"/>
              <a:t>, </a:t>
            </a:r>
            <a:r>
              <a:rPr lang="en-ID" dirty="0" err="1"/>
              <a:t>hemat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, dan </a:t>
            </a:r>
            <a:r>
              <a:rPr lang="en-ID" dirty="0" err="1"/>
              <a:t>efisien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instansi</a:t>
            </a:r>
            <a:r>
              <a:rPr lang="en-ID" dirty="0"/>
              <a:t> </a:t>
            </a:r>
            <a:r>
              <a:rPr lang="en-ID" dirty="0" err="1"/>
              <a:t>pariwisata</a:t>
            </a:r>
            <a:r>
              <a:rPr lang="en-ID" dirty="0"/>
              <a:t> </a:t>
            </a:r>
            <a:r>
              <a:rPr lang="en-ID" dirty="0" err="1"/>
              <a:t>daerah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078270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57</TotalTime>
  <Words>782</Words>
  <Application>Microsoft Office PowerPoint</Application>
  <PresentationFormat>Widescreen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Schoolbook</vt:lpstr>
      <vt:lpstr>Wingdings 2</vt:lpstr>
      <vt:lpstr>View</vt:lpstr>
      <vt:lpstr>Komparasi Transferabilitas Sentimen Lintas Kluster Wisata Yogyakarta Menggunakan Parameter-Efficient Fine-Tuning (LoRA)</vt:lpstr>
      <vt:lpstr>Latar Belakang</vt:lpstr>
      <vt:lpstr>Preprocessing</vt:lpstr>
      <vt:lpstr>Confidence Score LLM</vt:lpstr>
      <vt:lpstr>Confidence Score LLM</vt:lpstr>
      <vt:lpstr>Proporsi Domain Kluster Wisata</vt:lpstr>
      <vt:lpstr>Pemilihan Model &amp; Konfigurasi Fine-Tuning</vt:lpstr>
      <vt:lpstr>Hasil</vt:lpstr>
      <vt:lpstr>Hasil</vt:lpstr>
      <vt:lpstr>Training Loss</vt:lpstr>
      <vt:lpstr>Analisis Kausalitas</vt:lpstr>
      <vt:lpstr>Analisis Kausalitas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Zulza Laddera Aripin</dc:creator>
  <cp:lastModifiedBy>Zulza Laddera Aripin</cp:lastModifiedBy>
  <cp:revision>2</cp:revision>
  <dcterms:created xsi:type="dcterms:W3CDTF">2026-07-18T14:35:31Z</dcterms:created>
  <dcterms:modified xsi:type="dcterms:W3CDTF">2026-07-18T15:32:37Z</dcterms:modified>
</cp:coreProperties>
</file>